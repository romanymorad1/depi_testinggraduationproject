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8" r:id="rId7"/>
    <p:sldId id="272" r:id="rId8"/>
    <p:sldId id="261" r:id="rId9"/>
    <p:sldId id="271" r:id="rId10"/>
    <p:sldId id="263" r:id="rId11"/>
    <p:sldId id="264" r:id="rId12"/>
    <p:sldId id="270" r:id="rId13"/>
    <p:sldId id="265" r:id="rId14"/>
    <p:sldId id="269" r:id="rId15"/>
    <p:sldId id="273" r:id="rId16"/>
    <p:sldId id="266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7FEF"/>
    <a:srgbClr val="050D1A"/>
    <a:srgbClr val="0A1C38"/>
    <a:srgbClr val="EF4444"/>
    <a:srgbClr val="F59E0B"/>
    <a:srgbClr val="3B82F6"/>
    <a:srgbClr val="A855F7"/>
    <a:srgbClr val="22C55E"/>
    <a:srgbClr val="06B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899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kqtmFzRvuBtiYwhve3bUmz441Hy3wfYa/view?usp=sharing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r98A69QAFL_m5tMrATT3nkAO4Vm7DQq2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320040"/>
            <a:ext cx="4023360" cy="36576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0" y="320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9E0B"/>
                </a:solidFill>
              </a:rPr>
              <a:t>DIGITAL EGYPT PIONEERS INITIATIVE · DEPI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59E0B"/>
                </a:solidFill>
              </a:rPr>
              <a:t>QA Mastery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Graduation Project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25196" y="2476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</a:rPr>
              <a:t>Group: ONL4_SWD6_G3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A comprehensive quality assurance project covering Manual Testing, API Validation,</a:t>
            </a:r>
            <a:endParaRPr lang="en-US" sz="1300" dirty="0"/>
          </a:p>
          <a:p>
            <a:pPr algn="ctr"/>
            <a:r>
              <a:rPr lang="en-US" sz="1300" dirty="0">
                <a:solidFill>
                  <a:srgbClr val="94A3B8"/>
                </a:solidFill>
              </a:rPr>
              <a:t>Database Integrity, and Selenium/Automation on </a:t>
            </a:r>
            <a:r>
              <a:rPr lang="en-US" sz="1300" dirty="0" err="1">
                <a:solidFill>
                  <a:srgbClr val="94A3B8"/>
                </a:solidFill>
              </a:rPr>
              <a:t>Bstackdemo</a:t>
            </a:r>
            <a:r>
              <a:rPr lang="en-US" sz="1300" dirty="0">
                <a:solidFill>
                  <a:srgbClr val="94A3B8"/>
                </a:solidFill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3520440"/>
            <a:ext cx="1572768" cy="292608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35204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22C55E"/>
                </a:solidFill>
              </a:rPr>
              <a:t>Manual Testing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00768" y="3520440"/>
            <a:ext cx="1572768" cy="292608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4518" y="3498883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</a:rPr>
              <a:t>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37864" y="3520440"/>
            <a:ext cx="1572768" cy="292608"/>
          </a:xfrm>
          <a:prstGeom prst="rect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4396" y="35204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</a:rPr>
              <a:t>SQL Database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89796" y="3523704"/>
            <a:ext cx="1572768" cy="29260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0899" y="3506721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97316"/>
                </a:solidFill>
              </a:rPr>
              <a:t>Automation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12846" y="3520440"/>
            <a:ext cx="1572768" cy="29260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56" y="3506721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Jira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58468" y="4073647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59E0B"/>
                </a:solidFill>
              </a:rPr>
              <a:t>205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86623" y="4645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Test Cases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83468" y="404099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59E0B"/>
                </a:solidFill>
              </a:rPr>
              <a:t>43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583468" y="4645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Bugs Found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95148" y="4019433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08543" y="46242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Engineers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6B6D4"/>
                </a:solidFill>
              </a:rPr>
              <a:t>THE ENGINEERS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QA Team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4023360" cy="86868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81328"/>
            <a:ext cx="475488" cy="475488"/>
          </a:xfrm>
          <a:prstGeom prst="ellipse">
            <a:avLst/>
          </a:prstGeom>
          <a:solidFill>
            <a:srgbClr val="F59E0B">
              <a:alpha val="2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FM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444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Fatma Mostafa Ali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24712" y="1764792"/>
            <a:ext cx="822960" cy="2286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1764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QA Engineer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4023360" cy="86868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81328"/>
            <a:ext cx="475488" cy="475488"/>
          </a:xfrm>
          <a:prstGeom prst="ellipse">
            <a:avLst/>
          </a:prstGeom>
          <a:solidFill>
            <a:srgbClr val="06B6D4">
              <a:alpha val="2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</a:rPr>
              <a:t>AA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22392" y="1444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Aya Ahmed Mohammad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22392" y="1764792"/>
            <a:ext cx="822960" cy="22860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2392" y="1764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QA Engineer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313432"/>
            <a:ext cx="4023360" cy="86868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514600"/>
            <a:ext cx="475488" cy="475488"/>
          </a:xfrm>
          <a:prstGeom prst="ellipse">
            <a:avLst/>
          </a:prstGeom>
          <a:solidFill>
            <a:srgbClr val="A855F7">
              <a:alpha val="2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</a:rPr>
              <a:t>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2478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Mohamed Essam Abdelrahim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24712" y="2798064"/>
            <a:ext cx="822960" cy="228600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279806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</a:rPr>
              <a:t>QA Engineer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313432"/>
            <a:ext cx="4023360" cy="86868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514600"/>
            <a:ext cx="475488" cy="475488"/>
          </a:xfrm>
          <a:prstGeom prst="ellipse">
            <a:avLst/>
          </a:prstGeom>
          <a:solidFill>
            <a:srgbClr val="22C55E">
              <a:alpha val="20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SN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22392" y="2478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Sandy Nady Ayad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22392" y="2798064"/>
            <a:ext cx="822960" cy="228600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22392" y="279806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QA Engineer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346704"/>
            <a:ext cx="4023360" cy="86868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547872"/>
            <a:ext cx="475488" cy="475488"/>
          </a:xfrm>
          <a:prstGeom prst="ellipse">
            <a:avLst/>
          </a:prstGeom>
          <a:solidFill>
            <a:srgbClr val="F97316">
              <a:alpha val="20000"/>
            </a:srgbClr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47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RM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24712" y="35112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Romany Morad Ezzat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124712" y="3831336"/>
            <a:ext cx="822960" cy="228600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4712" y="38313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</a:rPr>
              <a:t>QA Engineer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346704"/>
            <a:ext cx="4023360" cy="86868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547872"/>
            <a:ext cx="475488" cy="475488"/>
          </a:xfrm>
          <a:prstGeom prst="ellipse">
            <a:avLst/>
          </a:prstGeom>
          <a:solidFill>
            <a:srgbClr val="EC4899">
              <a:alpha val="20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547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4899"/>
                </a:solidFill>
              </a:rPr>
              <a:t>AG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22392" y="35112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Assem Ghareb Mohammed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22392" y="3831336"/>
            <a:ext cx="822960" cy="228600"/>
          </a:xfrm>
          <a:prstGeom prst="rect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22392" y="38313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C4899"/>
                </a:solidFill>
              </a:rPr>
              <a:t>QA Engineer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290609" y="4663440"/>
            <a:ext cx="1097280" cy="256032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90609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Jira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97617" y="4663440"/>
            <a:ext cx="1097280" cy="256032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97617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Selenium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04625" y="4663440"/>
            <a:ext cx="1097280" cy="256032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4625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Postman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11633" y="4663440"/>
            <a:ext cx="1097280" cy="256032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1633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MySQL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22571" y="4663440"/>
            <a:ext cx="1097280" cy="256032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2564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GitHub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</a:rPr>
              <a:t>PROJECT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We Tested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73626"/>
            <a:ext cx="2697480" cy="8229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4987" y="1307592"/>
            <a:ext cx="19659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800" b="1" dirty="0">
                <a:solidFill>
                  <a:srgbClr val="22C55E"/>
                </a:solidFill>
              </a:rPr>
              <a:t>205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8049" y="1775768"/>
            <a:ext cx="19659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Total Test Cases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285709"/>
            <a:ext cx="2697480" cy="8229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298937"/>
            <a:ext cx="19659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800" b="1" dirty="0">
                <a:solidFill>
                  <a:srgbClr val="EF4444"/>
                </a:solidFill>
              </a:rPr>
              <a:t>43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89020" y="1814625"/>
            <a:ext cx="19659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Bugs Discovered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23610" y="1271016"/>
            <a:ext cx="2651760" cy="8229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06B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7940" y="1325876"/>
            <a:ext cx="19659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</a:rPr>
              <a:t>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1842514"/>
            <a:ext cx="19659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Team Members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2697480" cy="141732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304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FFFFFF"/>
                </a:solidFill>
              </a:rPr>
              <a:t>Bstackdemo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25786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Primary SUT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27889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 sample e-commerce platform used as the primary system under test for manual and automation testing.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194560"/>
            <a:ext cx="2697480" cy="141732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304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Automation Exercise 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25786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</a:rPr>
              <a:t>API Layer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7889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RESTful endpoints — user accounts, authentication, product search &amp; management.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189988"/>
            <a:ext cx="2697480" cy="141732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304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chemeClr val="bg1"/>
                </a:solidFill>
              </a:rPr>
              <a:t>Librarydb</a:t>
            </a:r>
            <a:r>
              <a:rPr lang="en-US" sz="1200" b="1" dirty="0">
                <a:solidFill>
                  <a:schemeClr val="bg1"/>
                </a:solidFill>
              </a:rPr>
              <a:t> SQL Database</a:t>
            </a:r>
            <a:endParaRPr lang="ar-EG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25786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</a:rPr>
              <a:t>DB Layer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7889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MySQL schema integrity, business-rule constraints, referential data validation.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30752"/>
            <a:ext cx="8229600" cy="77724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776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</a:rPr>
              <a:t>TESTING APPROACH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977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Black-box functional testing across UI, API, and database tiers. Equivalence partitioning and boundary value analysis on input fields. Negative testing for error handling. SQL integrity checks for business rules. Selenium/ for repeatable E2E regression coverage.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855F7"/>
                </a:solidFill>
              </a:rPr>
              <a:t>TESTING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QA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4160520" cy="15087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234440"/>
            <a:ext cx="45720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344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Manual Testing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" y="16916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TEST CASES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2064" y="18379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C55E"/>
                </a:solidFill>
              </a:rPr>
              <a:t>65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01952" y="16916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BUG REPORTS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01952" y="18379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EF4444"/>
                </a:solidFill>
              </a:rPr>
              <a:t>32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12064" y="224028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User-facing UI flows, exploratory testing, UX defects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45152" y="1234440"/>
            <a:ext cx="4160520" cy="15087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1234440"/>
            <a:ext cx="45720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344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API Testing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9744" y="16916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TEST CASES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09744" y="18379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69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99632" y="16916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BUG REPORTS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99632" y="18379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</a:rPr>
              <a:t>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09744" y="224028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REST endpoints, schema validation, status codes, edge cases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2855544"/>
            <a:ext cx="4160520" cy="15087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855544"/>
            <a:ext cx="45720" cy="15087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Database Testing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2064" y="33649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TEST CASES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2064" y="35112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55F7"/>
                </a:solidFill>
              </a:rPr>
              <a:t>65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901952" y="33649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BUG REPORTS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901952" y="35112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12064" y="391363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SQL integrity, referential constraints, business-rule gaps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45152" y="2862073"/>
            <a:ext cx="4160520" cy="15087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2862075"/>
            <a:ext cx="45720" cy="1508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Automation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09744" y="33649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TEST CASES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09744" y="35112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</a:rPr>
              <a:t>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199632" y="33649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BUG REPORTS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99632" y="35112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</a:rPr>
              <a:t>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809744" y="391363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</a:rPr>
              <a:t>Selenium/ Automation— regression safety net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4407408"/>
            <a:ext cx="8449056" cy="54864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4622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Test Environment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8640" y="4617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Chrome · Firefox · Windows 10/11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97234" y="44759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Test Management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978946" y="4649071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Jira · GitHub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17920" y="44622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SUT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17920" y="4617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59E0B"/>
                </a:solidFill>
              </a:rPr>
              <a:t>Bstackdemo.com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2C55E"/>
                </a:solidFill>
              </a:rPr>
              <a:t>MANUAL TESTING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Comprehensive functional testing of </a:t>
            </a:r>
            <a:r>
              <a:rPr lang="en-US" b="1" dirty="0" err="1">
                <a:solidFill>
                  <a:srgbClr val="FFFFFF"/>
                </a:solidFill>
              </a:rPr>
              <a:t>bstackdemo</a:t>
            </a:r>
            <a:r>
              <a:rPr lang="en-US" b="1" dirty="0">
                <a:solidFill>
                  <a:srgbClr val="FFFFFF"/>
                </a:solidFill>
              </a:rPr>
              <a:t> platform covering all user flows, UI validation, and end-to-end scenarios.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8229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26974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</a:rPr>
              <a:t>65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66037"/>
            <a:ext cx="26974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Test Cases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55848" y="1188720"/>
            <a:ext cx="2697480" cy="8229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261872"/>
            <a:ext cx="26974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32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55848" y="1666037"/>
            <a:ext cx="26974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Bug Reports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54496" y="1204918"/>
            <a:ext cx="2697480" cy="8229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205441"/>
            <a:ext cx="2697480" cy="452628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74%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54496" y="1666037"/>
            <a:ext cx="26974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Bug Share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8229600" cy="17373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128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C55E"/>
                </a:solidFill>
              </a:rPr>
              <a:t>REPRESENTATIVE DEFECT FINDINGS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468880"/>
            <a:ext cx="219456" cy="219456"/>
          </a:xfrm>
          <a:prstGeom prst="ellipse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468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B1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" y="24505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Password visible while typing in login / register forms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743200"/>
            <a:ext cx="219456" cy="219456"/>
          </a:xfrm>
          <a:prstGeom prst="ellipse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7432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B2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60120" y="27249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Product images fail to load for specific user accounts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017520"/>
            <a:ext cx="219456" cy="219456"/>
          </a:xfrm>
          <a:prstGeom prst="ellipse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17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B3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60120" y="29992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Cart sidebar overlaps and obscures page body content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291840"/>
            <a:ext cx="219456" cy="219456"/>
          </a:xfrm>
          <a:prstGeom prst="ellipse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B4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60120" y="32735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Sort state is lost upon page refresh — no persistence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566160"/>
            <a:ext cx="219456" cy="219456"/>
          </a:xfrm>
          <a:prstGeom prst="ellipse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566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B5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60120" y="3547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Filter returns empty results instead of graceful fallback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05072"/>
            <a:ext cx="2697480" cy="77724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78224"/>
            <a:ext cx="26974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15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57200" y="4455871"/>
            <a:ext cx="26974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Functional Bugs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55848" y="4005072"/>
            <a:ext cx="2697480" cy="77724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5848" y="4078224"/>
            <a:ext cx="26974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10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3355848" y="4455871"/>
            <a:ext cx="26974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UI/UX Defects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54496" y="4005072"/>
            <a:ext cx="2697480" cy="77724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4078224"/>
            <a:ext cx="26974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7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54496" y="4455871"/>
            <a:ext cx="26974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Edge Case Fails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43B98674-C266-D9DD-7882-3992350E9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966" y="607885"/>
            <a:ext cx="4434843" cy="2194098"/>
          </a:xfrm>
          <a:prstGeom prst="rect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3BAFE4FF-34CD-AB66-CA46-C874248D0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966" y="2901866"/>
            <a:ext cx="4434841" cy="2082934"/>
          </a:xfrm>
          <a:prstGeom prst="rect">
            <a:avLst/>
          </a:prstGeom>
          <a:ln w="19050">
            <a:solidFill>
              <a:srgbClr val="F59E0B"/>
            </a:solidFill>
          </a:ln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D32EBFD8-CD21-BA42-1DEE-D0422E0DE385}"/>
              </a:ext>
            </a:extLst>
          </p:cNvPr>
          <p:cNvSpPr/>
          <p:nvPr/>
        </p:nvSpPr>
        <p:spPr>
          <a:xfrm>
            <a:off x="280851" y="1086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2C55E"/>
                </a:solidFill>
              </a:rPr>
              <a:t>MANUAL TESTING </a:t>
            </a:r>
            <a:r>
              <a:rPr lang="en-US" sz="900" b="1" kern="0" spc="400" dirty="0" err="1">
                <a:solidFill>
                  <a:srgbClr val="22C55E"/>
                </a:solidFill>
              </a:rPr>
              <a:t>ScreenShot</a:t>
            </a:r>
            <a:endParaRPr lang="en-US" sz="900" dirty="0"/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6D38385A-966F-3F9D-2CCA-1BC9CC53A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21" y="2901866"/>
            <a:ext cx="4232368" cy="2082934"/>
          </a:xfrm>
          <a:prstGeom prst="rect">
            <a:avLst/>
          </a:prstGeom>
          <a:ln w="19050">
            <a:solidFill>
              <a:srgbClr val="EF4444"/>
            </a:solidFill>
          </a:ln>
        </p:spPr>
      </p:pic>
      <p:pic>
        <p:nvPicPr>
          <p:cNvPr id="11" name="صورة 10">
            <a:extLst>
              <a:ext uri="{FF2B5EF4-FFF2-40B4-BE49-F238E27FC236}">
                <a16:creationId xmlns:a16="http://schemas.microsoft.com/office/drawing/2014/main" id="{1A473151-37A2-6758-F168-69FC136428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221" y="607886"/>
            <a:ext cx="4232368" cy="2194097"/>
          </a:xfrm>
          <a:prstGeom prst="rect">
            <a:avLst/>
          </a:prstGeom>
          <a:ln w="19050">
            <a:solidFill>
              <a:srgbClr val="A855F7"/>
            </a:solidFill>
          </a:ln>
        </p:spPr>
      </p:pic>
    </p:spTree>
    <p:extLst>
      <p:ext uri="{BB962C8B-B14F-4D97-AF65-F5344CB8AC3E}">
        <p14:creationId xmlns:p14="http://schemas.microsoft.com/office/powerpoint/2010/main" val="2882651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5BDB6F-F461-9938-9E86-2201A70A17BE}"/>
              </a:ext>
            </a:extLst>
          </p:cNvPr>
          <p:cNvSpPr/>
          <p:nvPr/>
        </p:nvSpPr>
        <p:spPr>
          <a:xfrm>
            <a:off x="280851" y="1086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2C55E"/>
                </a:solidFill>
              </a:rPr>
              <a:t>MANUAL TESTING </a:t>
            </a:r>
            <a:r>
              <a:rPr lang="en-US" sz="900" b="1" kern="0" spc="400" dirty="0" err="1">
                <a:solidFill>
                  <a:srgbClr val="22C55E"/>
                </a:solidFill>
              </a:rPr>
              <a:t>ScreenShot</a:t>
            </a:r>
            <a:endParaRPr lang="en-US" sz="900" dirty="0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427EF90B-0977-463F-1223-000CFEB08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920" y="631779"/>
            <a:ext cx="4206577" cy="2137546"/>
          </a:xfrm>
          <a:prstGeom prst="rect">
            <a:avLst/>
          </a:prstGeom>
          <a:ln w="19050">
            <a:solidFill>
              <a:srgbClr val="A855F7"/>
            </a:solidFill>
          </a:ln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14BEB2F6-EB23-019D-AF4F-330240698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07" y="631778"/>
            <a:ext cx="4480560" cy="2137547"/>
          </a:xfrm>
          <a:prstGeom prst="rect">
            <a:avLst/>
          </a:prstGeom>
          <a:ln w="19050">
            <a:solidFill>
              <a:srgbClr val="3B82F6"/>
            </a:solidFill>
          </a:ln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105B2667-E0BB-4F5D-599D-23D6B0A7B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688" y="2919549"/>
            <a:ext cx="4233809" cy="1988451"/>
          </a:xfrm>
          <a:prstGeom prst="rect">
            <a:avLst/>
          </a:prstGeom>
          <a:ln w="19050">
            <a:solidFill>
              <a:srgbClr val="EF4444"/>
            </a:solidFill>
          </a:ln>
        </p:spPr>
      </p:pic>
      <p:pic>
        <p:nvPicPr>
          <p:cNvPr id="10" name="صورة 9">
            <a:extLst>
              <a:ext uri="{FF2B5EF4-FFF2-40B4-BE49-F238E27FC236}">
                <a16:creationId xmlns:a16="http://schemas.microsoft.com/office/drawing/2014/main" id="{9B43F3FA-5481-05AC-E52E-FEC972813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08" y="2919549"/>
            <a:ext cx="4480560" cy="1988450"/>
          </a:xfrm>
          <a:prstGeom prst="rect">
            <a:avLst/>
          </a:prstGeom>
          <a:ln w="19050">
            <a:solidFill>
              <a:srgbClr val="F59E0B"/>
            </a:solidFill>
          </a:ln>
        </p:spPr>
      </p:pic>
    </p:spTree>
    <p:extLst>
      <p:ext uri="{BB962C8B-B14F-4D97-AF65-F5344CB8AC3E}">
        <p14:creationId xmlns:p14="http://schemas.microsoft.com/office/powerpoint/2010/main" val="1643808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855F7"/>
                </a:solidFill>
              </a:rPr>
              <a:t>DATABASE TESTING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</a:rPr>
              <a:t>SQL integrity checks found business-rule gaps </a:t>
            </a:r>
            <a:r>
              <a:rPr lang="en-US" sz="2800" b="1" dirty="0" err="1">
                <a:solidFill>
                  <a:schemeClr val="bg1"/>
                </a:solidFill>
              </a:rPr>
              <a:t>Librarydb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29968" cy="804672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2029968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55F7"/>
                </a:solidFill>
              </a:rPr>
              <a:t>65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55430"/>
            <a:ext cx="202996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Test Cases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33472" y="1188720"/>
            <a:ext cx="2029968" cy="804672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1261872"/>
            <a:ext cx="2029968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33472" y="1655430"/>
            <a:ext cx="202996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Bug Reports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9744" y="1188720"/>
            <a:ext cx="2029968" cy="804672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4809744" y="1261872"/>
            <a:ext cx="2029968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</a:rPr>
              <a:t>60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09744" y="1655430"/>
            <a:ext cx="202996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Pass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86016" y="1188720"/>
            <a:ext cx="2029968" cy="804672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6016" y="1261872"/>
            <a:ext cx="2029968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86016" y="1655430"/>
            <a:ext cx="202996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Fail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9273" y="3171146"/>
            <a:ext cx="8229600" cy="182880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461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</a:rPr>
              <a:t>CRITICAL DATABASE DEFECTS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521737"/>
            <a:ext cx="566928" cy="210312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21737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350662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BORROW accepts due_date earlier than borrow_date — no constraint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805201"/>
            <a:ext cx="566928" cy="210312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05201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50115" y="380976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Duplicate active borrow records allowed for same book/user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88665"/>
            <a:ext cx="566928" cy="210312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88665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78855" y="4088665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available_quantity does not decrement after successful borrow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372129"/>
            <a:ext cx="566928" cy="210312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372129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91917" y="43766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Book can be borrowed when available_quantity equals zero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655593"/>
            <a:ext cx="566928" cy="210312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655593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78855" y="4655593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return_date earlier than borrow_date accepted without validation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8867" y="2190846"/>
            <a:ext cx="8229600" cy="804672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2266903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</a:rPr>
              <a:t>ROOT CAUSE PATTERN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24432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Deep database integrity testing across 5 </a:t>
            </a:r>
            <a:r>
              <a:rPr lang="en-US" sz="1000" dirty="0" err="1">
                <a:solidFill>
                  <a:srgbClr val="94A3B8"/>
                </a:solidFill>
              </a:rPr>
              <a:t>tables.Execution</a:t>
            </a:r>
            <a:r>
              <a:rPr lang="en-US" sz="1000" dirty="0">
                <a:solidFill>
                  <a:srgbClr val="94A3B8"/>
                </a:solidFill>
              </a:rPr>
              <a:t>: Designed and executed 65 detailed test </a:t>
            </a:r>
            <a:r>
              <a:rPr lang="en-US" sz="1000" dirty="0" err="1">
                <a:solidFill>
                  <a:srgbClr val="94A3B8"/>
                </a:solidFill>
              </a:rPr>
              <a:t>cases.Results</a:t>
            </a:r>
            <a:r>
              <a:rPr lang="en-US" sz="1000" dirty="0">
                <a:solidFill>
                  <a:srgbClr val="94A3B8"/>
                </a:solidFill>
              </a:rPr>
              <a:t>: Uncovered 5 critical bugs related to schema constraints and referential integrity.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FFA5EAB0-20A1-BEA1-830D-D73D084858C7}"/>
              </a:ext>
            </a:extLst>
          </p:cNvPr>
          <p:cNvSpPr/>
          <p:nvPr/>
        </p:nvSpPr>
        <p:spPr>
          <a:xfrm>
            <a:off x="241663" y="1600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855F7"/>
                </a:solidFill>
              </a:rPr>
              <a:t>DATABASE TESTING</a:t>
            </a:r>
            <a:endParaRPr lang="en-US" sz="900" dirty="0"/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BB2D3B02-9E20-7381-BF6B-19331DD5B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80" y="571794"/>
            <a:ext cx="4147457" cy="2188262"/>
          </a:xfrm>
          <a:prstGeom prst="rect">
            <a:avLst/>
          </a:prstGeom>
          <a:ln w="19050">
            <a:solidFill>
              <a:srgbClr val="A855F7"/>
            </a:solidFill>
          </a:ln>
        </p:spPr>
      </p:pic>
      <p:pic>
        <p:nvPicPr>
          <p:cNvPr id="11" name="صورة 10">
            <a:extLst>
              <a:ext uri="{FF2B5EF4-FFF2-40B4-BE49-F238E27FC236}">
                <a16:creationId xmlns:a16="http://schemas.microsoft.com/office/drawing/2014/main" id="{10A3044C-0CFE-680B-47C4-AFED21969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879" y="571794"/>
            <a:ext cx="4284617" cy="2188262"/>
          </a:xfrm>
          <a:prstGeom prst="rect">
            <a:avLst/>
          </a:prstGeom>
          <a:ln w="19050">
            <a:solidFill>
              <a:srgbClr val="EF4444"/>
            </a:solidFill>
          </a:ln>
        </p:spPr>
      </p:pic>
      <p:pic>
        <p:nvPicPr>
          <p:cNvPr id="13" name="صورة 12">
            <a:extLst>
              <a:ext uri="{FF2B5EF4-FFF2-40B4-BE49-F238E27FC236}">
                <a16:creationId xmlns:a16="http://schemas.microsoft.com/office/drawing/2014/main" id="{69F582CD-8503-D682-D266-26EC16C5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380" y="2862035"/>
            <a:ext cx="4147457" cy="2170246"/>
          </a:xfrm>
          <a:prstGeom prst="rect">
            <a:avLst/>
          </a:prstGeom>
          <a:ln w="19050">
            <a:solidFill>
              <a:srgbClr val="3B82F6"/>
            </a:solidFill>
          </a:ln>
        </p:spPr>
      </p:pic>
      <p:pic>
        <p:nvPicPr>
          <p:cNvPr id="15" name="صورة 14">
            <a:extLst>
              <a:ext uri="{FF2B5EF4-FFF2-40B4-BE49-F238E27FC236}">
                <a16:creationId xmlns:a16="http://schemas.microsoft.com/office/drawing/2014/main" id="{6007EE90-A1B2-701C-D2BB-A60A8D545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8940" y="2875097"/>
            <a:ext cx="4284617" cy="2141038"/>
          </a:xfrm>
          <a:prstGeom prst="rect">
            <a:avLst/>
          </a:prstGeom>
          <a:ln w="19050">
            <a:solidFill>
              <a:srgbClr val="F59E0B"/>
            </a:solidFill>
          </a:ln>
        </p:spPr>
      </p:pic>
    </p:spTree>
    <p:extLst>
      <p:ext uri="{BB962C8B-B14F-4D97-AF65-F5344CB8AC3E}">
        <p14:creationId xmlns:p14="http://schemas.microsoft.com/office/powerpoint/2010/main" val="2173613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6417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6B6D4"/>
                </a:solidFill>
              </a:rPr>
              <a:t>API TESTING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API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29968" cy="804672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2029968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55430"/>
            <a:ext cx="202996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Test Cases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33472" y="1188720"/>
            <a:ext cx="2029968" cy="804672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1261872"/>
            <a:ext cx="2029968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</a:rPr>
              <a:t>63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33472" y="1655430"/>
            <a:ext cx="202996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9744" y="1188720"/>
            <a:ext cx="2029968" cy="804672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261872"/>
            <a:ext cx="2029968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09744" y="1655430"/>
            <a:ext cx="202996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Fail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86016" y="1188720"/>
            <a:ext cx="2029968" cy="804672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6016" y="1261872"/>
            <a:ext cx="2029968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86016" y="1655430"/>
            <a:ext cx="202996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Bug Reports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21408"/>
            <a:ext cx="3977640" cy="237744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194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API MODULES TESTED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478024"/>
            <a:ext cx="237744" cy="237744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4780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87552" y="24780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User Account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798064"/>
            <a:ext cx="237744" cy="237744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798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7552" y="27980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Create Account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118104"/>
            <a:ext cx="237744" cy="237744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1181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7552" y="3118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Authentication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438144"/>
            <a:ext cx="237744" cy="237744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438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7552" y="34381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Products API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3758184"/>
            <a:ext cx="237744" cy="237744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758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87552" y="37581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Search Product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078224"/>
            <a:ext cx="237744" cy="237744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078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87552" y="4078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Verify Login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44568" y="2121408"/>
            <a:ext cx="4471416" cy="237744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23045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VALIDATION CHECKS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73168" y="26083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Request Validation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73168" y="2891177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Required params, type checks, boundary values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60106" y="3195279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HTTP Status Codes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73168" y="3507115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200/201/400/401/404/422/500 coverage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0" y="3843719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Edge Cases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54880" y="408606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Empty payload, missing auth, duplicate entries</a:t>
            </a:r>
            <a:endParaRPr lang="en-US" sz="100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40562DBE-034A-F0D4-64CE-F238EAF12BF7}"/>
              </a:ext>
            </a:extLst>
          </p:cNvPr>
          <p:cNvSpPr/>
          <p:nvPr/>
        </p:nvSpPr>
        <p:spPr>
          <a:xfrm>
            <a:off x="1298448" y="13167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</a:rPr>
              <a:t>69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6B6D4"/>
                </a:solidFill>
              </a:rPr>
              <a:t>API TESTING - COLLECTION RUNNER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Automatiom</a:t>
            </a:r>
            <a:r>
              <a:rPr lang="en-US" sz="2600" b="1" dirty="0">
                <a:solidFill>
                  <a:srgbClr val="FFFFFF"/>
                </a:solidFill>
              </a:rPr>
              <a:t> Exercise — Run Results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36881" y="1211638"/>
            <a:ext cx="8229600" cy="274320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321" y="1221243"/>
            <a:ext cx="25603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#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4353" y="1221243"/>
            <a:ext cx="585216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Method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88441" y="1221243"/>
            <a:ext cx="63093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Request Name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21319" y="1221243"/>
            <a:ext cx="5943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Result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6881" y="1495563"/>
            <a:ext cx="8229600" cy="242316"/>
          </a:xfrm>
          <a:prstGeom prst="rect">
            <a:avLst/>
          </a:prstGeom>
          <a:solidFill>
            <a:srgbClr val="0D1B2E">
              <a:alpha val="70000"/>
            </a:srgbClr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881" y="1495563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4353" y="1532139"/>
            <a:ext cx="566928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4353" y="1532139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GET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61009" y="1495563"/>
            <a:ext cx="6355080" cy="2423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Get All Products List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80681" y="1532139"/>
            <a:ext cx="594360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80681" y="1532139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6881" y="1737879"/>
            <a:ext cx="8229600" cy="242316"/>
          </a:xfrm>
          <a:prstGeom prst="rect">
            <a:avLst/>
          </a:prstGeom>
          <a:solidFill>
            <a:srgbClr val="050D1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6881" y="1737879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84353" y="1774455"/>
            <a:ext cx="566928" cy="169164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353" y="1774455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</a:rPr>
              <a:t>POST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461009" y="1737879"/>
            <a:ext cx="6355080" cy="2423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POST To All Products List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80681" y="1774455"/>
            <a:ext cx="594360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80681" y="1774455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6881" y="1980195"/>
            <a:ext cx="8229600" cy="242316"/>
          </a:xfrm>
          <a:prstGeom prst="rect">
            <a:avLst/>
          </a:prstGeom>
          <a:solidFill>
            <a:srgbClr val="0D1B2E">
              <a:alpha val="70000"/>
            </a:srgbClr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6881" y="1980195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84353" y="2016771"/>
            <a:ext cx="566928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4353" y="2016771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GET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461009" y="1980195"/>
            <a:ext cx="6355080" cy="2423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Get All Brands List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980681" y="2016771"/>
            <a:ext cx="594360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80681" y="2016771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36881" y="2222511"/>
            <a:ext cx="8229600" cy="242316"/>
          </a:xfrm>
          <a:prstGeom prst="rect">
            <a:avLst/>
          </a:prstGeom>
          <a:solidFill>
            <a:srgbClr val="050D1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6881" y="2222511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84353" y="2259087"/>
            <a:ext cx="566928" cy="16916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4353" y="2259087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PUT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461009" y="2222511"/>
            <a:ext cx="6355080" cy="2423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PUT To All Brands List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980681" y="2259087"/>
            <a:ext cx="594360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80681" y="2259087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36881" y="2464827"/>
            <a:ext cx="8229600" cy="242316"/>
          </a:xfrm>
          <a:prstGeom prst="rect">
            <a:avLst/>
          </a:prstGeom>
          <a:solidFill>
            <a:srgbClr val="0D1B2E">
              <a:alpha val="70000"/>
            </a:srgbClr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6881" y="2464827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84353" y="2501403"/>
            <a:ext cx="566928" cy="169164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4353" y="2501403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</a:rPr>
              <a:t>POST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461009" y="2464827"/>
            <a:ext cx="6355080" cy="2423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POST To Search Product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980681" y="2501403"/>
            <a:ext cx="594360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80681" y="2501403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36881" y="2707143"/>
            <a:ext cx="8229600" cy="242316"/>
          </a:xfrm>
          <a:prstGeom prst="rect">
            <a:avLst/>
          </a:prstGeom>
          <a:solidFill>
            <a:srgbClr val="050D1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6881" y="2707143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6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84353" y="2743719"/>
            <a:ext cx="566928" cy="169164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4353" y="2743719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</a:rPr>
              <a:t>POST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461009" y="2707143"/>
            <a:ext cx="6355080" cy="2423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POST To Search Product without search_product param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980681" y="2743719"/>
            <a:ext cx="594360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80681" y="2743719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36881" y="2949459"/>
            <a:ext cx="8229600" cy="242316"/>
          </a:xfrm>
          <a:prstGeom prst="rect">
            <a:avLst/>
          </a:prstGeom>
          <a:solidFill>
            <a:srgbClr val="0D1B2E">
              <a:alpha val="70000"/>
            </a:srgbClr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6881" y="2949459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7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4353" y="2986035"/>
            <a:ext cx="566928" cy="169164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4353" y="2986035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</a:rPr>
              <a:t>POST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461009" y="2949459"/>
            <a:ext cx="6355080" cy="2423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POST To Verify Login with valid details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980681" y="2986035"/>
            <a:ext cx="594360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80681" y="2986035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36881" y="3191775"/>
            <a:ext cx="8229600" cy="242316"/>
          </a:xfrm>
          <a:prstGeom prst="rect">
            <a:avLst/>
          </a:prstGeom>
          <a:solidFill>
            <a:srgbClr val="050D1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6881" y="3191775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8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84353" y="3228351"/>
            <a:ext cx="566928" cy="169164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4353" y="3228351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</a:rPr>
              <a:t>POST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461009" y="3191775"/>
            <a:ext cx="6355080" cy="2423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API 8: POST To Verify Login without email param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980681" y="3228351"/>
            <a:ext cx="594360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980681" y="3228351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36881" y="3434091"/>
            <a:ext cx="8229600" cy="242316"/>
          </a:xfrm>
          <a:prstGeom prst="rect">
            <a:avLst/>
          </a:prstGeom>
          <a:solidFill>
            <a:srgbClr val="0D1B2E">
              <a:alpha val="70000"/>
            </a:srgbClr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6881" y="3434091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9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84353" y="3470667"/>
            <a:ext cx="566928" cy="169164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84353" y="3470667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DEL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1461009" y="3434091"/>
            <a:ext cx="6355080" cy="2423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API 9: DELETE To Verify Login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980681" y="3470667"/>
            <a:ext cx="594360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980681" y="3470667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36881" y="3676407"/>
            <a:ext cx="8229600" cy="242316"/>
          </a:xfrm>
          <a:prstGeom prst="rect">
            <a:avLst/>
          </a:prstGeom>
          <a:solidFill>
            <a:srgbClr val="050D1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6881" y="3676407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84353" y="3712983"/>
            <a:ext cx="566928" cy="169164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84353" y="3712983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</a:rPr>
              <a:t>POST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1461009" y="3676407"/>
            <a:ext cx="6355080" cy="2423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API 10: POST To Verify Login with invalid details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980681" y="3712983"/>
            <a:ext cx="594360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980681" y="3712983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36881" y="3918723"/>
            <a:ext cx="8229600" cy="242316"/>
          </a:xfrm>
          <a:prstGeom prst="rect">
            <a:avLst/>
          </a:prstGeom>
          <a:solidFill>
            <a:srgbClr val="0D1B2E">
              <a:alpha val="70000"/>
            </a:srgbClr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36881" y="3918723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11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784353" y="3955299"/>
            <a:ext cx="566928" cy="169164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84353" y="3955299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</a:rPr>
              <a:t>POST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1461009" y="3918723"/>
            <a:ext cx="6355080" cy="2423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API 11: POST To Create/Register User Account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7980681" y="3955299"/>
            <a:ext cx="594360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980681" y="3955299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36881" y="4161039"/>
            <a:ext cx="8229600" cy="242316"/>
          </a:xfrm>
          <a:prstGeom prst="rect">
            <a:avLst/>
          </a:prstGeom>
          <a:solidFill>
            <a:srgbClr val="050D1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6881" y="4161039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12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84353" y="4197615"/>
            <a:ext cx="566928" cy="16916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84353" y="4197615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PUT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1461009" y="4161039"/>
            <a:ext cx="6355080" cy="2423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API 13: PUT METHOD To Update User Account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7980681" y="4197615"/>
            <a:ext cx="594360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980681" y="4197615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436881" y="4403355"/>
            <a:ext cx="8229600" cy="242316"/>
          </a:xfrm>
          <a:prstGeom prst="rect">
            <a:avLst/>
          </a:prstGeom>
          <a:solidFill>
            <a:srgbClr val="0D1B2E">
              <a:alpha val="70000"/>
            </a:srgbClr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36881" y="4403355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13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784353" y="4439931"/>
            <a:ext cx="566928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84353" y="4439931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GET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1461009" y="4403355"/>
            <a:ext cx="6355080" cy="2423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API 14: GET user account detail by email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7980681" y="4439931"/>
            <a:ext cx="594360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980681" y="4439931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436881" y="4645671"/>
            <a:ext cx="8229600" cy="242316"/>
          </a:xfrm>
          <a:prstGeom prst="rect">
            <a:avLst/>
          </a:prstGeom>
          <a:solidFill>
            <a:srgbClr val="050D1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36881" y="4645671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14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784353" y="4682247"/>
            <a:ext cx="566928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84353" y="4682247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GET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1461009" y="4645671"/>
            <a:ext cx="6355080" cy="2423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API 12: DELETE METHOD To Delete User Account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7980681" y="4682247"/>
            <a:ext cx="594360" cy="16916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980681" y="4682247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>
            <a:extLst>
              <a:ext uri="{FF2B5EF4-FFF2-40B4-BE49-F238E27FC236}">
                <a16:creationId xmlns:a16="http://schemas.microsoft.com/office/drawing/2014/main" id="{F43EF691-934B-B836-5265-647C4D08E425}"/>
              </a:ext>
            </a:extLst>
          </p:cNvPr>
          <p:cNvSpPr/>
          <p:nvPr/>
        </p:nvSpPr>
        <p:spPr>
          <a:xfrm>
            <a:off x="542110" y="11759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400" dirty="0">
                <a:solidFill>
                  <a:srgbClr val="06B6D4"/>
                </a:solidFill>
              </a:rPr>
              <a:t>API TESTING Screenshot</a:t>
            </a:r>
            <a:endParaRPr lang="en-US" sz="900" dirty="0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3791FEB4-E713-E348-FFC0-1EA1442AC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013" y="441001"/>
            <a:ext cx="4722222" cy="2204227"/>
          </a:xfrm>
          <a:prstGeom prst="rect">
            <a:avLst/>
          </a:prstGeom>
          <a:ln w="19050">
            <a:solidFill>
              <a:srgbClr val="A855F7"/>
            </a:solidFill>
          </a:ln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469F3322-700F-B208-8E0C-10C69C649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013" y="2740035"/>
            <a:ext cx="4722222" cy="2204227"/>
          </a:xfrm>
          <a:prstGeom prst="rect">
            <a:avLst/>
          </a:prstGeom>
          <a:ln w="19050">
            <a:solidFill>
              <a:srgbClr val="EF4444"/>
            </a:solidFill>
          </a:ln>
        </p:spPr>
      </p:pic>
      <p:sp>
        <p:nvSpPr>
          <p:cNvPr id="7" name="Shape 14">
            <a:extLst>
              <a:ext uri="{FF2B5EF4-FFF2-40B4-BE49-F238E27FC236}">
                <a16:creationId xmlns:a16="http://schemas.microsoft.com/office/drawing/2014/main" id="{81D8F197-19DD-6504-D089-414072DC2B4E}"/>
              </a:ext>
            </a:extLst>
          </p:cNvPr>
          <p:cNvSpPr/>
          <p:nvPr/>
        </p:nvSpPr>
        <p:spPr>
          <a:xfrm>
            <a:off x="111035" y="2455817"/>
            <a:ext cx="3585754" cy="533273"/>
          </a:xfrm>
          <a:prstGeom prst="rect">
            <a:avLst/>
          </a:prstGeom>
          <a:solidFill>
            <a:srgbClr val="0D1B2E">
              <a:alpha val="80000"/>
            </a:srgbClr>
          </a:solidFill>
          <a:ln w="3175">
            <a:solidFill>
              <a:srgbClr val="06B6D4"/>
            </a:solidFill>
            <a:prstDash val="solid"/>
          </a:ln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E61864E-F672-6AD9-6087-4476EB0529FA}"/>
              </a:ext>
            </a:extLst>
          </p:cNvPr>
          <p:cNvSpPr/>
          <p:nvPr/>
        </p:nvSpPr>
        <p:spPr>
          <a:xfrm>
            <a:off x="830796" y="910233"/>
            <a:ext cx="22859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API validation</a:t>
            </a:r>
            <a:endParaRPr lang="en-US" sz="26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CEB5B2D4-255A-6CAB-2106-46C32EC733DB}"/>
              </a:ext>
            </a:extLst>
          </p:cNvPr>
          <p:cNvSpPr/>
          <p:nvPr/>
        </p:nvSpPr>
        <p:spPr>
          <a:xfrm>
            <a:off x="830796" y="1820002"/>
            <a:ext cx="2029968" cy="334409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4A267B07-427D-AF92-D1AD-E5DCC8339857}"/>
              </a:ext>
            </a:extLst>
          </p:cNvPr>
          <p:cNvSpPr/>
          <p:nvPr/>
        </p:nvSpPr>
        <p:spPr>
          <a:xfrm>
            <a:off x="1429075" y="1886623"/>
            <a:ext cx="13271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Video link</a:t>
            </a:r>
            <a:endParaRPr lang="en-US" sz="900" dirty="0"/>
          </a:p>
        </p:txBody>
      </p:sp>
      <p:sp>
        <p:nvSpPr>
          <p:cNvPr id="11" name="Text 37">
            <a:extLst>
              <a:ext uri="{FF2B5EF4-FFF2-40B4-BE49-F238E27FC236}">
                <a16:creationId xmlns:a16="http://schemas.microsoft.com/office/drawing/2014/main" id="{B8C2C2E0-305D-F74F-60E8-7F6229A68EA5}"/>
              </a:ext>
            </a:extLst>
          </p:cNvPr>
          <p:cNvSpPr/>
          <p:nvPr/>
        </p:nvSpPr>
        <p:spPr>
          <a:xfrm>
            <a:off x="305017" y="4716029"/>
            <a:ext cx="19352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Screenshot from the API project</a:t>
            </a:r>
            <a:endParaRPr lang="en-US" sz="1000" dirty="0"/>
          </a:p>
        </p:txBody>
      </p:sp>
      <p:sp>
        <p:nvSpPr>
          <p:cNvPr id="12" name="Text 37">
            <a:extLst>
              <a:ext uri="{FF2B5EF4-FFF2-40B4-BE49-F238E27FC236}">
                <a16:creationId xmlns:a16="http://schemas.microsoft.com/office/drawing/2014/main" id="{B5535347-C769-4621-C9AA-40D6879DB316}"/>
              </a:ext>
            </a:extLst>
          </p:cNvPr>
          <p:cNvSpPr/>
          <p:nvPr/>
        </p:nvSpPr>
        <p:spPr>
          <a:xfrm>
            <a:off x="228600" y="2605041"/>
            <a:ext cx="3370217" cy="384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hlinkClick r:id="rId4"/>
              </a:rPr>
              <a:t>https://drive.google.com/file/d/1kqtmFzRvuBtiYwhve3bUmz441Hy3wfYa/view?usp=sharing</a:t>
            </a:r>
            <a:r>
              <a:rPr lang="en-US" sz="1000" dirty="0">
                <a:solidFill>
                  <a:srgbClr val="4A5568"/>
                </a:solidFill>
              </a:rPr>
              <a:t> </a:t>
            </a:r>
          </a:p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17866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B82F6"/>
                </a:solidFill>
              </a:rPr>
              <a:t>AUTOMATION TESTING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4138" y="457203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</a:rPr>
              <a:t>Automation / Selenium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3"/>
            <a:ext cx="8366760" cy="713229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568"/>
                </a:solidFill>
              </a:rPr>
              <a:t>AUTOMATED TEST FLOW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141732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898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Login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66544" y="1389888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95144" y="1389888"/>
            <a:ext cx="141732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2982" y="13898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Browse Products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21608" y="1389888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50208" y="1389888"/>
            <a:ext cx="141732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13898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Add to Cart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76672" y="1389888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05272" y="1389888"/>
            <a:ext cx="141732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05272" y="13898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Checkout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31736" y="1389888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60336" y="1389888"/>
            <a:ext cx="141732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0336" y="13898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Order Confirm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1920240"/>
            <a:ext cx="2697480" cy="8229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0299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Page Object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23225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Decoupled locators from test logic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1920240"/>
            <a:ext cx="2697480" cy="8229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0299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 Test Setup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23225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WebDriver lifecycle management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1920240"/>
            <a:ext cx="2697480" cy="8229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0578" y="2015599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E2E Scenario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23225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Full user journey validation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852928"/>
            <a:ext cx="2697480" cy="8229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9626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Regression Suite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32552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TestNG XML suite runner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2852928"/>
            <a:ext cx="2697480" cy="8229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29626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Maven Dependencies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29000" y="32552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Dependency management &amp; build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2852928"/>
            <a:ext cx="2697480" cy="8229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29626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CI/CD Ready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32552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GitHub Actions integration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4138" y="3814354"/>
            <a:ext cx="8366760" cy="82296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39593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Language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2960" y="417554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Java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011680" y="39593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Framework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011680" y="4133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Selenium WebDriver 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31920" y="39593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Pattern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931920" y="4133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Page Object Model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741126" y="396980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Build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741126" y="4142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Maven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223760" y="39593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VCS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223760" y="4133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GitHub</a:t>
            </a:r>
            <a:endParaRPr lang="en-US" sz="1100" dirty="0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F7BDD4CE-0280-AB8C-A65A-7BBAF3107C97}"/>
              </a:ext>
            </a:extLst>
          </p:cNvPr>
          <p:cNvSpPr/>
          <p:nvPr/>
        </p:nvSpPr>
        <p:spPr>
          <a:xfrm>
            <a:off x="7351761" y="281636"/>
            <a:ext cx="1393807" cy="706701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EAE48182-8924-D75A-EA8D-EBC2D53F7B98}"/>
              </a:ext>
            </a:extLst>
          </p:cNvPr>
          <p:cNvSpPr/>
          <p:nvPr/>
        </p:nvSpPr>
        <p:spPr>
          <a:xfrm>
            <a:off x="7747568" y="350610"/>
            <a:ext cx="541455" cy="37673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97FEF"/>
                </a:solidFill>
              </a:rPr>
              <a:t>6</a:t>
            </a:r>
            <a:endParaRPr lang="en-US" sz="2800" dirty="0">
              <a:solidFill>
                <a:srgbClr val="397FEF"/>
              </a:solidFill>
            </a:endParaRPr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034859E3-5FCC-9297-E817-A87C58280AEB}"/>
              </a:ext>
            </a:extLst>
          </p:cNvPr>
          <p:cNvSpPr/>
          <p:nvPr/>
        </p:nvSpPr>
        <p:spPr>
          <a:xfrm>
            <a:off x="7485004" y="716241"/>
            <a:ext cx="1129937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Test Cases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4">
            <a:extLst>
              <a:ext uri="{FF2B5EF4-FFF2-40B4-BE49-F238E27FC236}">
                <a16:creationId xmlns:a16="http://schemas.microsoft.com/office/drawing/2014/main" id="{17CA304D-A586-847B-F896-F6EEC883005B}"/>
              </a:ext>
            </a:extLst>
          </p:cNvPr>
          <p:cNvSpPr/>
          <p:nvPr/>
        </p:nvSpPr>
        <p:spPr>
          <a:xfrm>
            <a:off x="409847" y="1194901"/>
            <a:ext cx="3946615" cy="2009613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ar-EG" dirty="0">
              <a:solidFill>
                <a:schemeClr val="bg1"/>
              </a:solidFill>
            </a:endParaRPr>
          </a:p>
        </p:txBody>
      </p:sp>
      <p:sp>
        <p:nvSpPr>
          <p:cNvPr id="4" name="Shape 36">
            <a:extLst>
              <a:ext uri="{FF2B5EF4-FFF2-40B4-BE49-F238E27FC236}">
                <a16:creationId xmlns:a16="http://schemas.microsoft.com/office/drawing/2014/main" id="{06F3C81E-C003-CE83-6BFD-BAEEB3AF94CA}"/>
              </a:ext>
            </a:extLst>
          </p:cNvPr>
          <p:cNvSpPr/>
          <p:nvPr/>
        </p:nvSpPr>
        <p:spPr>
          <a:xfrm>
            <a:off x="414748" y="3370216"/>
            <a:ext cx="3941714" cy="1502229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3314ADAF-B9FC-274E-765A-2E07D2AEB1B6}"/>
              </a:ext>
            </a:extLst>
          </p:cNvPr>
          <p:cNvSpPr/>
          <p:nvPr/>
        </p:nvSpPr>
        <p:spPr>
          <a:xfrm>
            <a:off x="388620" y="17204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B82F6"/>
                </a:solidFill>
              </a:rPr>
              <a:t>AUTOMATION TESTING</a:t>
            </a:r>
            <a:endParaRPr lang="en-US" sz="9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1F0CEA61-3561-C048-85AE-B1DF2688DA27}"/>
              </a:ext>
            </a:extLst>
          </p:cNvPr>
          <p:cNvSpPr/>
          <p:nvPr/>
        </p:nvSpPr>
        <p:spPr>
          <a:xfrm>
            <a:off x="489859" y="132484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568"/>
                </a:solidFill>
              </a:rPr>
              <a:t>AUTOMATED TEST FLOW</a:t>
            </a:r>
            <a:endParaRPr lang="en-US" sz="9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6579EE7E-8F5F-51B3-1EE9-D6F4000A7F87}"/>
              </a:ext>
            </a:extLst>
          </p:cNvPr>
          <p:cNvSpPr/>
          <p:nvPr/>
        </p:nvSpPr>
        <p:spPr>
          <a:xfrm>
            <a:off x="346165" y="38236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>
                <a:solidFill>
                  <a:srgbClr val="FFFFFF"/>
                </a:solidFill>
              </a:rPr>
              <a:t>Automation </a:t>
            </a:r>
            <a:r>
              <a:rPr lang="en-US" sz="2800" b="1" dirty="0">
                <a:solidFill>
                  <a:srgbClr val="FFFFFF"/>
                </a:solidFill>
              </a:rPr>
              <a:t>E2E Scenario</a:t>
            </a:r>
            <a:endParaRPr lang="en-US" sz="2800" dirty="0"/>
          </a:p>
        </p:txBody>
      </p:sp>
      <p:sp>
        <p:nvSpPr>
          <p:cNvPr id="11" name="Text 25">
            <a:extLst>
              <a:ext uri="{FF2B5EF4-FFF2-40B4-BE49-F238E27FC236}">
                <a16:creationId xmlns:a16="http://schemas.microsoft.com/office/drawing/2014/main" id="{9CB6F409-19C0-417D-AEFD-BBCF44EE8BCA}"/>
              </a:ext>
            </a:extLst>
          </p:cNvPr>
          <p:cNvSpPr/>
          <p:nvPr/>
        </p:nvSpPr>
        <p:spPr>
          <a:xfrm>
            <a:off x="627017" y="135623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46C7D087-273B-EB68-77C3-1C1E11C87DA3}"/>
              </a:ext>
            </a:extLst>
          </p:cNvPr>
          <p:cNvSpPr/>
          <p:nvPr/>
        </p:nvSpPr>
        <p:spPr>
          <a:xfrm>
            <a:off x="2201089" y="1687153"/>
            <a:ext cx="470265" cy="56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23">
            <a:extLst>
              <a:ext uri="{FF2B5EF4-FFF2-40B4-BE49-F238E27FC236}">
                <a16:creationId xmlns:a16="http://schemas.microsoft.com/office/drawing/2014/main" id="{F994795B-B3F0-A65A-FB7D-6BAC59C15E1D}"/>
              </a:ext>
            </a:extLst>
          </p:cNvPr>
          <p:cNvSpPr/>
          <p:nvPr/>
        </p:nvSpPr>
        <p:spPr>
          <a:xfrm>
            <a:off x="538844" y="3590789"/>
            <a:ext cx="2645229" cy="1061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solidFill>
                <a:srgbClr val="94A3B8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Login Validation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 Home Page Verification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 Product Selection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Product Details Validation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 Cart Functionality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 Checkout &amp; Order Confirmation</a:t>
            </a:r>
            <a:endParaRPr lang="en-US" sz="1000" dirty="0"/>
          </a:p>
        </p:txBody>
      </p:sp>
      <p:sp>
        <p:nvSpPr>
          <p:cNvPr id="15" name="Text 23">
            <a:extLst>
              <a:ext uri="{FF2B5EF4-FFF2-40B4-BE49-F238E27FC236}">
                <a16:creationId xmlns:a16="http://schemas.microsoft.com/office/drawing/2014/main" id="{9FEA90B6-E3DF-505D-2B1D-CA2D7723A597}"/>
              </a:ext>
            </a:extLst>
          </p:cNvPr>
          <p:cNvSpPr/>
          <p:nvPr/>
        </p:nvSpPr>
        <p:spPr>
          <a:xfrm>
            <a:off x="542108" y="1233589"/>
            <a:ext cx="3507377" cy="197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Developed an End-to-End Automation Framework for the </a:t>
            </a:r>
            <a:r>
              <a:rPr lang="en-US" sz="1000" dirty="0" err="1">
                <a:solidFill>
                  <a:srgbClr val="94A3B8"/>
                </a:solidFill>
              </a:rPr>
              <a:t>BrowserStack</a:t>
            </a:r>
            <a:r>
              <a:rPr lang="en-US" sz="1000" dirty="0">
                <a:solidFill>
                  <a:srgbClr val="94A3B8"/>
                </a:solidFill>
              </a:rPr>
              <a:t> Demo Store using Selenium WebDriver, Java, TestNG, and </a:t>
            </a:r>
            <a:r>
              <a:rPr lang="en-US" sz="1000" dirty="0" err="1">
                <a:solidFill>
                  <a:srgbClr val="94A3B8"/>
                </a:solidFill>
              </a:rPr>
              <a:t>Maven.The</a:t>
            </a:r>
            <a:r>
              <a:rPr lang="en-US" sz="1000" dirty="0">
                <a:solidFill>
                  <a:srgbClr val="94A3B8"/>
                </a:solidFill>
              </a:rPr>
              <a:t> framework includes 6 automated test cases covering the complete user journey from login to successful checkout, ensuring the application's core functionalities work as expected.</a:t>
            </a:r>
            <a:endParaRPr lang="en-US" sz="1000" dirty="0"/>
          </a:p>
        </p:txBody>
      </p:sp>
      <p:pic>
        <p:nvPicPr>
          <p:cNvPr id="17" name="صورة 16">
            <a:extLst>
              <a:ext uri="{FF2B5EF4-FFF2-40B4-BE49-F238E27FC236}">
                <a16:creationId xmlns:a16="http://schemas.microsoft.com/office/drawing/2014/main" id="{A28E9213-9AFC-AC04-291A-A74790DBA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7" y="535693"/>
            <a:ext cx="4088678" cy="2189714"/>
          </a:xfrm>
          <a:prstGeom prst="rect">
            <a:avLst/>
          </a:prstGeom>
        </p:spPr>
      </p:pic>
      <p:pic>
        <p:nvPicPr>
          <p:cNvPr id="19" name="صورة 18">
            <a:extLst>
              <a:ext uri="{FF2B5EF4-FFF2-40B4-BE49-F238E27FC236}">
                <a16:creationId xmlns:a16="http://schemas.microsoft.com/office/drawing/2014/main" id="{AD7301E3-1D96-B21E-6C0B-956262B6C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58" y="2853924"/>
            <a:ext cx="4088678" cy="2167547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D063818E-00C2-921E-E6EE-98DD3819F899}"/>
              </a:ext>
            </a:extLst>
          </p:cNvPr>
          <p:cNvSpPr/>
          <p:nvPr/>
        </p:nvSpPr>
        <p:spPr>
          <a:xfrm>
            <a:off x="542108" y="3563169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chemeClr val="bg1"/>
                </a:solidFill>
              </a:rPr>
              <a:t>Testing Scope </a:t>
            </a: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4EF50E52-98BF-5F14-58E7-C4BB4FDA71AC}"/>
              </a:ext>
            </a:extLst>
          </p:cNvPr>
          <p:cNvSpPr/>
          <p:nvPr/>
        </p:nvSpPr>
        <p:spPr>
          <a:xfrm>
            <a:off x="542108" y="1562433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chemeClr val="bg1"/>
                </a:solidFill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4165270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FC7AC5-2BB5-411D-1A85-39E4BAB721DB}"/>
              </a:ext>
            </a:extLst>
          </p:cNvPr>
          <p:cNvSpPr/>
          <p:nvPr/>
        </p:nvSpPr>
        <p:spPr>
          <a:xfrm>
            <a:off x="271055" y="113259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B82F6"/>
                </a:solidFill>
              </a:rPr>
              <a:t>AUTOMATION TESTING</a:t>
            </a:r>
            <a:endParaRPr lang="en-US" sz="900" dirty="0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D5904D2F-AB87-0195-F066-B20B1456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517" y="285810"/>
            <a:ext cx="4072070" cy="2180405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0054BDFC-9603-E6BF-84F8-702C52036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677285"/>
            <a:ext cx="4175105" cy="2180405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D73233C3-6C53-1660-A128-B7A7FD900840}"/>
              </a:ext>
            </a:extLst>
          </p:cNvPr>
          <p:cNvSpPr/>
          <p:nvPr/>
        </p:nvSpPr>
        <p:spPr>
          <a:xfrm>
            <a:off x="486596" y="1093451"/>
            <a:ext cx="37751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>
                <a:solidFill>
                  <a:srgbClr val="FFFFFF"/>
                </a:solidFill>
              </a:rPr>
              <a:t>Automation </a:t>
            </a:r>
            <a:r>
              <a:rPr lang="en-US" sz="2800" b="1" dirty="0">
                <a:solidFill>
                  <a:srgbClr val="FFFFFF"/>
                </a:solidFill>
              </a:rPr>
              <a:t>E2E Scenario</a:t>
            </a:r>
            <a:endParaRPr lang="en-US" sz="2800" dirty="0"/>
          </a:p>
        </p:txBody>
      </p:sp>
      <p:sp>
        <p:nvSpPr>
          <p:cNvPr id="8" name="Shape 36">
            <a:extLst>
              <a:ext uri="{FF2B5EF4-FFF2-40B4-BE49-F238E27FC236}">
                <a16:creationId xmlns:a16="http://schemas.microsoft.com/office/drawing/2014/main" id="{72392DB4-3F0B-F561-3F52-923DA9DA8F9C}"/>
              </a:ext>
            </a:extLst>
          </p:cNvPr>
          <p:cNvSpPr/>
          <p:nvPr/>
        </p:nvSpPr>
        <p:spPr>
          <a:xfrm>
            <a:off x="231868" y="2860767"/>
            <a:ext cx="3941714" cy="773162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Shape 24">
            <a:extLst>
              <a:ext uri="{FF2B5EF4-FFF2-40B4-BE49-F238E27FC236}">
                <a16:creationId xmlns:a16="http://schemas.microsoft.com/office/drawing/2014/main" id="{272556E2-6C3D-A2A3-6FA9-9914B913B8D0}"/>
              </a:ext>
            </a:extLst>
          </p:cNvPr>
          <p:cNvSpPr/>
          <p:nvPr/>
        </p:nvSpPr>
        <p:spPr>
          <a:xfrm>
            <a:off x="925830" y="2052428"/>
            <a:ext cx="2392135" cy="461313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ar-EG" dirty="0">
              <a:solidFill>
                <a:schemeClr val="bg1"/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472EA57-AA3F-40C0-BF36-DCB08B65A52D}"/>
              </a:ext>
            </a:extLst>
          </p:cNvPr>
          <p:cNvSpPr/>
          <p:nvPr/>
        </p:nvSpPr>
        <p:spPr>
          <a:xfrm>
            <a:off x="1413238" y="21367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Video link</a:t>
            </a:r>
          </a:p>
        </p:txBody>
      </p:sp>
      <p:sp>
        <p:nvSpPr>
          <p:cNvPr id="13" name="Text 37">
            <a:extLst>
              <a:ext uri="{FF2B5EF4-FFF2-40B4-BE49-F238E27FC236}">
                <a16:creationId xmlns:a16="http://schemas.microsoft.com/office/drawing/2014/main" id="{83F2B126-805E-D9B6-6F8C-48E6BF0F78E6}"/>
              </a:ext>
            </a:extLst>
          </p:cNvPr>
          <p:cNvSpPr/>
          <p:nvPr/>
        </p:nvSpPr>
        <p:spPr>
          <a:xfrm>
            <a:off x="305017" y="4716029"/>
            <a:ext cx="2111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Screenshot from the Automation project</a:t>
            </a:r>
            <a:endParaRPr lang="en-US" sz="1000" dirty="0"/>
          </a:p>
        </p:txBody>
      </p:sp>
      <p:sp>
        <p:nvSpPr>
          <p:cNvPr id="14" name="Text 37">
            <a:extLst>
              <a:ext uri="{FF2B5EF4-FFF2-40B4-BE49-F238E27FC236}">
                <a16:creationId xmlns:a16="http://schemas.microsoft.com/office/drawing/2014/main" id="{C7D7CF63-2CD8-BAEF-E95C-1791E203B663}"/>
              </a:ext>
            </a:extLst>
          </p:cNvPr>
          <p:cNvSpPr/>
          <p:nvPr/>
        </p:nvSpPr>
        <p:spPr>
          <a:xfrm>
            <a:off x="398415" y="3051121"/>
            <a:ext cx="3638007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A5568"/>
                </a:solidFill>
                <a:hlinkClick r:id="rId4"/>
              </a:rPr>
              <a:t>https://drive.google.com/file/d/1r98A69QAFL_m5tMrATT3nkAO4Vm7DQq2</a:t>
            </a:r>
            <a:r>
              <a:rPr lang="en-US" sz="1000" dirty="0">
                <a:solidFill>
                  <a:srgbClr val="4A5568"/>
                </a:solidFill>
              </a:rPr>
              <a:t>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50274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</a:rPr>
              <a:t>PROJECT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Outcomes &amp; Key Learnings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19" y="1175004"/>
            <a:ext cx="2647187" cy="804672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205179"/>
            <a:ext cx="2029968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800" b="1" dirty="0">
                <a:solidFill>
                  <a:srgbClr val="22C55E"/>
                </a:solidFill>
              </a:rPr>
              <a:t>205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5325" y="1747786"/>
            <a:ext cx="202996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Total TCs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57223" y="1175004"/>
            <a:ext cx="2574689" cy="804672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ar-EG" dirty="0"/>
          </a:p>
        </p:txBody>
      </p:sp>
      <p:sp>
        <p:nvSpPr>
          <p:cNvPr id="8" name="Text 6"/>
          <p:cNvSpPr/>
          <p:nvPr/>
        </p:nvSpPr>
        <p:spPr>
          <a:xfrm>
            <a:off x="3529584" y="1221116"/>
            <a:ext cx="2029968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800" b="1" dirty="0">
                <a:solidFill>
                  <a:srgbClr val="EF4444"/>
                </a:solidFill>
              </a:rPr>
              <a:t>43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29584" y="1750293"/>
            <a:ext cx="202996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Total Bugs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50133" y="1190026"/>
            <a:ext cx="2666129" cy="804672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0575" y="1234440"/>
            <a:ext cx="2029968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</a:rPr>
              <a:t>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76701" y="1722315"/>
            <a:ext cx="202996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Engineers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41001"/>
            <a:ext cx="8229600" cy="429768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154063"/>
            <a:ext cx="45720" cy="4297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19717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 tests surface user defects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2391807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UI/UX issues invisible to automated checks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62206"/>
            <a:ext cx="8229600" cy="429768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668737"/>
            <a:ext cx="45720" cy="4297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7118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validation prevents integration failures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289995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Schema drift caught before deployment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76885"/>
            <a:ext cx="8229600" cy="429768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176885"/>
            <a:ext cx="45720" cy="4297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2199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 integrity requires DB-level constraints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340809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App-layer validation alone is insufficient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0669" y="3704624"/>
            <a:ext cx="8229600" cy="429768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0669" y="3698093"/>
            <a:ext cx="45720" cy="4297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837" y="37412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Automation creates repeatable regression safety net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1837" y="391624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Selenium/TestNG for fast regression feedback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4137" y="4245424"/>
            <a:ext cx="8229600" cy="777240"/>
          </a:xfrm>
          <a:prstGeom prst="rect">
            <a:avLst/>
          </a:prstGeom>
          <a:solidFill>
            <a:srgbClr val="0D1B2E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0486" y="4309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</a:rPr>
              <a:t>PROJECT ACHIEVEMENTS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9456" y="4528888"/>
            <a:ext cx="1078992" cy="237744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2517" y="452888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Manual Testing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73357" y="4528888"/>
            <a:ext cx="1078992" cy="237744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99481" y="452888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API Testing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43789" y="4528888"/>
            <a:ext cx="1078992" cy="237744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69913" y="452888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Database Testing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020752" y="4528888"/>
            <a:ext cx="1078992" cy="237744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40345" y="452888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Test Automation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65060" y="4528888"/>
            <a:ext cx="1078992" cy="237744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5060" y="452888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Project Management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42023" y="4528888"/>
            <a:ext cx="1078992" cy="237744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1209" y="452888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Jira Workflows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99393" y="4528888"/>
            <a:ext cx="1078992" cy="237744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60207" y="452888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GitHub VCS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0852" y="770056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9E0B"/>
                </a:solidFill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97183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Presented by ONL4_SWD6_G3 · Digital Egypt Pioneers Initiative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633472"/>
            <a:ext cx="2651760" cy="347472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97480"/>
            <a:ext cx="219456" cy="219456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</a:rPr>
              <a:t>FM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41248" y="27066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Fatma Mostafa Ali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2633472"/>
            <a:ext cx="2651760" cy="347472"/>
          </a:xfrm>
          <a:prstGeom prst="rect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2697480"/>
            <a:ext cx="219456" cy="21945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697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B6D4"/>
                </a:solidFill>
              </a:rPr>
              <a:t>AA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630168" y="27066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Aya Ahmed Mohammad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633472"/>
            <a:ext cx="2651760" cy="347472"/>
          </a:xfrm>
          <a:prstGeom prst="rect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697480"/>
            <a:ext cx="219456" cy="219456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697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855F7"/>
                </a:solidFill>
              </a:rPr>
              <a:t>ME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419088" y="27066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Mohamed Essam Abdelrahim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87921"/>
            <a:ext cx="2651760" cy="347472"/>
          </a:xfrm>
          <a:prstGeom prst="rect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51929"/>
            <a:ext cx="219456" cy="219456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5192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</a:rPr>
              <a:t>SN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41248" y="3361073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Sandy Nady Ayad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287921"/>
            <a:ext cx="2651760" cy="347472"/>
          </a:xfrm>
          <a:prstGeom prst="rect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3351929"/>
            <a:ext cx="219456" cy="219456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35192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</a:rPr>
              <a:t>RM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30168" y="3361073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Romany Morad Ezzat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287921"/>
            <a:ext cx="2651760" cy="347472"/>
          </a:xfrm>
          <a:prstGeom prst="rect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3351929"/>
            <a:ext cx="219456" cy="219456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35192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C4899"/>
                </a:solidFill>
              </a:rPr>
              <a:t>AG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419088" y="3361073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Assem Ghareb Mohammed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88336" y="3986784"/>
            <a:ext cx="3657600" cy="43891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88336" y="3973721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Questions &amp; Discussion Welcome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🔗 bstackdemo.com     🐙 github.com/romanymorad1/Depi_TestingGraduationProject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1095</Words>
  <Application>Microsoft Office PowerPoint</Application>
  <PresentationFormat>عرض على الشاشة (16:9)</PresentationFormat>
  <Paragraphs>346</Paragraphs>
  <Slides>17</Slides>
  <Notes>11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20" baseType="lpstr">
      <vt:lpstr>Arial</vt:lpstr>
      <vt:lpstr>Consolas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Mastery - Graduation Project</dc:title>
  <dc:subject>PptxGenJS Presentation</dc:subject>
  <dc:creator>ONL4_SWD6_G3</dc:creator>
  <cp:lastModifiedBy>Mohmad Esam</cp:lastModifiedBy>
  <cp:revision>9</cp:revision>
  <dcterms:created xsi:type="dcterms:W3CDTF">2026-06-02T00:26:54Z</dcterms:created>
  <dcterms:modified xsi:type="dcterms:W3CDTF">2026-06-02T23:33:37Z</dcterms:modified>
</cp:coreProperties>
</file>